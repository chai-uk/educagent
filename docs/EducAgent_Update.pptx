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9202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3474720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45720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292608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297680"/>
            <a:ext cx="36576" cy="3657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58A6FF"/>
                </a:solidFill>
              </a:rPr>
              <a:t>EDUC</a:t>
            </a:r>
            <a:pPr indent="0" marL="0">
              <a:buNone/>
            </a:pPr>
            <a:r>
              <a:rPr lang="en-US" sz="2600" b="1" spc="600" kern="0" dirty="0">
                <a:solidFill>
                  <a:srgbClr val="E6EDF3"/>
                </a:solidFill>
              </a:rPr>
              <a:t>AGENT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84F58"/>
                </a:solidFill>
              </a:rPr>
              <a:t>Project Update  ·  Theme Meeting  ·  Feb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201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</a:rPr>
              <a:t>Feb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841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What is EducAgent?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1133856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An AI tutor for Pearl's Causality (2009) — answering questions like "what do I need to know before the back-door criterion?"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Powered by a GraphRAG architecture — the agent reasons over a structured knowledge graph, not just raw text chunks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</a:rPr>
              <a:t>Adapts explanations to the learner's background: statistician, ML engineer, economist, or clinician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Foundation: a causality concept graph extracted from the book's TOC and Subject Index — built this cycle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0175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</a:rPr>
              <a:t>Plan After Feb: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25526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949E"/>
                </a:solidFill>
              </a:rPr>
              <a:t>Deliver a working prototype that can:</a:t>
            </a:r>
            <a:endParaRPr lang="en-US" sz="10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</a:rPr>
              <a:t>(1) answer prerequisite questions via graph traversal</a:t>
            </a:r>
            <a:endParaRPr lang="en-US" sz="10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</a:rPr>
              <a:t>(2) retrieve relevant section content (RAG)</a:t>
            </a:r>
            <a:endParaRPr lang="en-US" sz="1000" dirty="0"/>
          </a:p>
          <a:p>
            <a:pPr lvl="1" marL="6858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</a:rPr>
              <a:t>(3) tailor explanations to a user-defined background profile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841248"/>
            <a:ext cx="0" cy="356616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8412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Progress This 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216152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Knowledge graph spec &amp; schema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1527048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TOC parser → 240 Section nodes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837944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783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Subject Index parser → 613 Concept nodes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2148840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20939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9 edge types, curated relations (&gt;50 pairs)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459736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2404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D3.js 'Slipways Universe' visualisation (uni.html)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28163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Agreed Actions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0723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→  Build concept knowledge graph  ✓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33467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→  Build interactive visualisation  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36210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 Define next-phase scope (see Slide 3)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370832"/>
            <a:ext cx="9144000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</a:rPr>
              <a:t>853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" y="4718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484F58"/>
                </a:solidFill>
              </a:rPr>
              <a:t>Total Nodes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29384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</a:rPr>
              <a:t>3,533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929384" y="4718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484F58"/>
                </a:solidFill>
              </a:rPr>
              <a:t>Total Edges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21608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957E5"/>
                </a:solidFill>
              </a:rPr>
              <a:t>613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721608" y="4718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484F58"/>
                </a:solidFill>
              </a:rPr>
              <a:t>Concept Stars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13832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29922"/>
                </a:solidFill>
              </a:rPr>
              <a:t>240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13832" y="4718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484F58"/>
                </a:solidFill>
              </a:rPr>
              <a:t>TOC Sections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306056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883E"/>
                </a:solidFill>
              </a:rPr>
              <a:t>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06056" y="4718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484F58"/>
                </a:solidFill>
              </a:rPr>
              <a:t>Edge Types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9202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3474720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45720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292608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297680"/>
            <a:ext cx="36576" cy="3657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</a:rPr>
              <a:t>Results: Concept Graph + Slipways Universe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76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84F58"/>
                </a:solidFill>
              </a:rPr>
              <a:t>HOW THE GRAPH WAS BUILT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841248"/>
            <a:ext cx="4206240" cy="8961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841248"/>
            <a:ext cx="45720" cy="8961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914400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914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17"/>
                </a:solidFill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905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Parse TOC → Section Nodes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1188720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240 sections (11 chapters, depth 0–2). Each node has chapter, page range, and hierarchy. Linked by NEXT_IN_SEQUENCE edges.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865376"/>
            <a:ext cx="4206240" cy="8961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865376"/>
            <a:ext cx="45720" cy="8961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938528"/>
            <a:ext cx="256032" cy="25603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17"/>
                </a:solidFill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19293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Parse Subject Index → Concept Nodes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2212848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613 concepts from the 6-page index. Includes page refs, parent/child entries, 'see also' links, and 'of X' sub-entries.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889504"/>
            <a:ext cx="4206240" cy="8961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9504"/>
            <a:ext cx="45720" cy="89611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17"/>
                </a:solidFill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2953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Connect Concepts ↔ Sections + Concepts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3236976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COVERED_IN (concept → section, via pages). Curated PREREQUISITE_OF (28 pairs), ALIAS (9), COMMONLY_CONFUSED (10), SEE_ALSO (13).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4206240" cy="89611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913632"/>
            <a:ext cx="45720" cy="8961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986784"/>
            <a:ext cx="256032" cy="25603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17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39776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Export &amp; Visualise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" y="4261104"/>
            <a:ext cx="3950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NetworkX DiGraph → .pkl + .json. Visualised with D3.js force simulation as the 'Slipways Universe' (uni.html).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576072"/>
            <a:ext cx="0" cy="4315968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57607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84F58"/>
                </a:solidFill>
              </a:rPr>
              <a:t>THE SLIPWAYS UNIVERSE (uni.html)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10328" y="841248"/>
            <a:ext cx="3913632" cy="2487168"/>
          </a:xfrm>
          <a:prstGeom prst="rect">
            <a:avLst/>
          </a:prstGeom>
          <a:solidFill>
            <a:srgbClr val="080D1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109728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164592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128016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192024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6640" y="146304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0" y="219456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0" y="228600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256032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201168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173736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301752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0" y="2834640"/>
            <a:ext cx="45720" cy="45720"/>
          </a:xfrm>
          <a:prstGeom prst="ellipse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841248"/>
            <a:ext cx="39136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5080"/>
                </a:solidFill>
              </a:rPr>
              <a:t>[ Insert screenshot / demo video ]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10328" y="31455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5080"/>
                </a:solidFill>
              </a:rPr>
              <a:t>uni.html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10328" y="33649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613 stars = concepts  ·  size ∝ connections, colour = chapter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10328" y="369417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FF"/>
                </a:solidFill>
              </a:rPr>
              <a:t>◎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Nebulas = book sections (TOC hierarchy, dashed ring style)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10328" y="402336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</a:rPr>
              <a:t>↝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Animated particle flows trace connection type (6 edge types)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910328" y="435254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</a:rPr>
              <a:t>⌕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Search + entity &amp; edge-type filters in HUD panel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910328" y="468172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</a:rPr>
              <a:t>⟳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Lazy-load architecture — activate full 853-node graph on demand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9202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3474720"/>
            <a:ext cx="36576" cy="365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4572000"/>
            <a:ext cx="36576" cy="3657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2926080"/>
            <a:ext cx="36576" cy="3657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297680"/>
            <a:ext cx="36576" cy="3657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</a:rPr>
              <a:t>Questions to Discuss  ·  Proposed Actions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76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84F58"/>
                </a:solidFill>
              </a:rPr>
              <a:t>OPEN QUESTIONS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841248"/>
            <a:ext cx="420624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841248"/>
            <a:ext cx="45720" cy="914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9144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How to scale PREREQUISITE_OF edges?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1179576"/>
            <a:ext cx="3950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28 pairs are manually curated. Should we use an LLM to evaluate all ~37,000 concept pairs and extract edges automatically? What's the quality threshold?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1865376"/>
            <a:ext cx="420624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865376"/>
            <a:ext cx="45720" cy="9144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193852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What's the delivery scope post-Feb?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2203704"/>
            <a:ext cx="3950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Full adaptive tutor interface, or a demonstrable GraphRAG + student model prototype? What concrete output is expected by the next theme meeting?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420624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9504"/>
            <a:ext cx="45720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6265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Student model: self-report vs quiz-inferred?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227832"/>
            <a:ext cx="3950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Onboarding quiz that asks background questions, or adaptive inference as the student interacts? Which fits the timeline and evaluation criteria?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420624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13632"/>
            <a:ext cx="45720" cy="9144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98678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Tech stack: stay on NetworkX or migrate to Neo4j?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" y="4251960"/>
            <a:ext cx="3950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NetworkX is fast for prototyping. Neo4j enables Cypher queries and graph algorithms at scale. Worth migrating now, or prototype first?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576072"/>
            <a:ext cx="0" cy="4315968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57607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84F58"/>
                </a:solidFill>
              </a:rPr>
              <a:t>BY NEXT THEME MEETING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10328" y="841248"/>
            <a:ext cx="3913632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0328" y="841248"/>
            <a:ext cx="45720" cy="71323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914400"/>
            <a:ext cx="347472" cy="164592"/>
          </a:xfrm>
          <a:prstGeom prst="rect">
            <a:avLst/>
          </a:prstGeom>
          <a:solidFill>
            <a:srgbClr val="8957E5">
              <a:alpha val="35000"/>
            </a:srgbClr>
          </a:solidFill>
          <a:ln w="3810">
            <a:solidFill>
              <a:srgbClr val="8957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9144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957E5"/>
                </a:solidFill>
              </a:rPr>
              <a:t>Graph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65776" y="89611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LLM prerequisite edge extraction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65776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Prompt design + run on top 50 concept pairs. Manual spot-check of quality before bulk expansion.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10328" y="1664208"/>
            <a:ext cx="3913632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10328" y="1664208"/>
            <a:ext cx="45720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1737360"/>
            <a:ext cx="347472" cy="164592"/>
          </a:xfrm>
          <a:prstGeom prst="rect">
            <a:avLst/>
          </a:prstGeom>
          <a:solidFill>
            <a:srgbClr val="58A6FF">
              <a:alpha val="35000"/>
            </a:srgbClr>
          </a:solidFill>
          <a:ln w="381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17373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8A6FF"/>
                </a:solidFill>
              </a:rPr>
              <a:t>RAG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065776" y="171907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RAG pipeline prototype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65776" y="1975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Qdrant collection per chapter, embeddings at subsection granularity, test retrieval on sample questions.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10328" y="2487168"/>
            <a:ext cx="3913632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10328" y="2487168"/>
            <a:ext cx="45720" cy="7132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2560320"/>
            <a:ext cx="347472" cy="164592"/>
          </a:xfrm>
          <a:prstGeom prst="rect">
            <a:avLst/>
          </a:prstGeom>
          <a:solidFill>
            <a:srgbClr val="3FB950">
              <a:alpha val="35000"/>
            </a:srgbClr>
          </a:solidFill>
          <a:ln w="381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2560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950"/>
                </a:solidFill>
              </a:rPr>
              <a:t>Model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065776" y="254203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Student profiling spec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65776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Define fields (background, role, mastery per concept) and onboarding flow. No implementation yet — design doc.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910328" y="3310128"/>
            <a:ext cx="3913632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10328" y="3310128"/>
            <a:ext cx="45720" cy="7132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2480" y="3383280"/>
            <a:ext cx="347472" cy="164592"/>
          </a:xfrm>
          <a:prstGeom prst="rect">
            <a:avLst/>
          </a:prstGeom>
          <a:solidFill>
            <a:srgbClr val="D29922">
              <a:alpha val="35000"/>
            </a:srgbClr>
          </a:solidFill>
          <a:ln w="3810">
            <a:solidFill>
              <a:srgbClr val="D299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0" y="33832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29922"/>
                </a:solidFill>
              </a:rPr>
              <a:t>Demo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065776" y="336499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Demo recording of uni.html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65776" y="3621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Screen-capture walkthrough of the Slipways visualisation for supervisor / CHAI group sharing.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910328" y="4133088"/>
            <a:ext cx="3913632" cy="713232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910328" y="4133088"/>
            <a:ext cx="45720" cy="7132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4206240"/>
            <a:ext cx="347472" cy="164592"/>
          </a:xfrm>
          <a:prstGeom prst="rect">
            <a:avLst/>
          </a:prstGeom>
          <a:solidFill>
            <a:srgbClr val="F0883E">
              <a:alpha val="35000"/>
            </a:srgbClr>
          </a:solidFill>
          <a:ln w="3810">
            <a:solidFill>
              <a:srgbClr val="F088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0" y="42062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0883E"/>
                </a:solidFill>
              </a:rPr>
              <a:t>Plan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065776" y="4187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Agree March milestone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65776" y="4443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Confirm with supervisor: what is the concrete deliverable for next theme meeting? Set measurable criteria.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EducAgent Update</dc:title>
  <dc:subject>PptxGenJS Presentation</dc:subject>
  <dc:creator>EducAgent Project</dc:creator>
  <cp:lastModifiedBy>EducAgent Project</cp:lastModifiedBy>
  <cp:revision>1</cp:revision>
  <dcterms:created xsi:type="dcterms:W3CDTF">2026-02-24T23:59:04Z</dcterms:created>
  <dcterms:modified xsi:type="dcterms:W3CDTF">2026-02-24T23:59:04Z</dcterms:modified>
</cp:coreProperties>
</file>